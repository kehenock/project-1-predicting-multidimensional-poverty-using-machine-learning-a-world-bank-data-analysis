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Inter"/>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294b3d0cb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294b3d0cb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e294b3d0cb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e294b3d0cb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294b3d0cb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e294b3d0cb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294b3d0cb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e294b3d0cb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294b3d0cb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e294b3d0cb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e294b3d0cb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e294b3d0cb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294b3d0cb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294b3d0cb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e294b3d0cb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e294b3d0cb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7"/>
          <p:cNvSpPr/>
          <p:nvPr/>
        </p:nvSpPr>
        <p:spPr>
          <a:xfrm>
            <a:off x="4629750" y="3219178"/>
            <a:ext cx="4229700" cy="1459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62" name="Google Shape;362;p47"/>
          <p:cNvSpPr/>
          <p:nvPr/>
        </p:nvSpPr>
        <p:spPr>
          <a:xfrm>
            <a:off x="4629750" y="3217800"/>
            <a:ext cx="4229700" cy="16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363" name="Google Shape;363;p47"/>
          <p:cNvSpPr txBox="1"/>
          <p:nvPr>
            <p:ph type="title"/>
          </p:nvPr>
        </p:nvSpPr>
        <p:spPr>
          <a:xfrm>
            <a:off x="284850" y="474875"/>
            <a:ext cx="8725500" cy="1136100"/>
          </a:xfrm>
          <a:prstGeom prst="rect">
            <a:avLst/>
          </a:prstGeom>
        </p:spPr>
        <p:txBody>
          <a:bodyPr anchorCtr="0" anchor="t" bIns="0" lIns="0" spcFirstLastPara="1" rIns="0" wrap="square" tIns="0">
            <a:noAutofit/>
          </a:bodyPr>
          <a:lstStyle/>
          <a:p>
            <a:pPr indent="0" lvl="0" marL="0" rtl="0" algn="ctr">
              <a:lnSpc>
                <a:spcPct val="150000"/>
              </a:lnSpc>
              <a:spcBef>
                <a:spcPts val="0"/>
              </a:spcBef>
              <a:spcAft>
                <a:spcPts val="0"/>
              </a:spcAft>
              <a:buClr>
                <a:schemeClr val="lt1"/>
              </a:buClr>
              <a:buSzPts val="1100"/>
              <a:buFont typeface="Arial"/>
              <a:buNone/>
            </a:pPr>
            <a:r>
              <a:rPr b="1" lang="en" sz="2000">
                <a:solidFill>
                  <a:srgbClr val="0000FF"/>
                </a:solidFill>
                <a:latin typeface="Times New Roman"/>
                <a:ea typeface="Times New Roman"/>
                <a:cs typeface="Times New Roman"/>
                <a:sym typeface="Times New Roman"/>
              </a:rPr>
              <a:t>Predicting Multidimensional Poverty Using Machine Learning: A World Bank Data Analysis</a:t>
            </a:r>
            <a:endParaRPr sz="2000">
              <a:solidFill>
                <a:srgbClr val="0000FF"/>
              </a:solidFill>
            </a:endParaRPr>
          </a:p>
        </p:txBody>
      </p:sp>
      <p:sp>
        <p:nvSpPr>
          <p:cNvPr id="364" name="Google Shape;364;p4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4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Name</a:t>
            </a:r>
            <a:endParaRPr/>
          </a:p>
        </p:txBody>
      </p:sp>
      <p:sp>
        <p:nvSpPr>
          <p:cNvPr id="366" name="Google Shape;366;p4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367" name="Google Shape;367;p47"/>
          <p:cNvSpPr txBox="1"/>
          <p:nvPr>
            <p:ph idx="1" type="body"/>
          </p:nvPr>
        </p:nvSpPr>
        <p:spPr>
          <a:xfrm>
            <a:off x="392500" y="1555575"/>
            <a:ext cx="7837500" cy="2866200"/>
          </a:xfrm>
          <a:prstGeom prst="rect">
            <a:avLst/>
          </a:prstGeom>
        </p:spPr>
        <p:txBody>
          <a:bodyPr anchorCtr="0" anchor="t" bIns="91425" lIns="182875" spcFirstLastPara="1" rIns="182875" wrap="square" tIns="91425">
            <a:noAutofit/>
          </a:bodyPr>
          <a:lstStyle/>
          <a:p>
            <a:pPr indent="0" lvl="0" marL="0" rtl="0" algn="ctr">
              <a:lnSpc>
                <a:spcPct val="150000"/>
              </a:lnSpc>
              <a:spcBef>
                <a:spcPts val="0"/>
              </a:spcBef>
              <a:spcAft>
                <a:spcPts val="0"/>
              </a:spcAft>
              <a:buClr>
                <a:schemeClr val="lt1"/>
              </a:buClr>
              <a:buSzPts val="1100"/>
              <a:buFont typeface="Arial"/>
              <a:buNone/>
            </a:pPr>
            <a:r>
              <a:t/>
            </a:r>
            <a:endParaRPr b="1" sz="1100" u="sng">
              <a:latin typeface="Times New Roman"/>
              <a:ea typeface="Times New Roman"/>
              <a:cs typeface="Times New Roman"/>
              <a:sym typeface="Times New Roman"/>
            </a:endParaRPr>
          </a:p>
          <a:p>
            <a:pPr indent="-298450" lvl="0" marL="457200" rtl="0" algn="just">
              <a:lnSpc>
                <a:spcPct val="150000"/>
              </a:lnSpc>
              <a:spcBef>
                <a:spcPts val="0"/>
              </a:spcBef>
              <a:spcAft>
                <a:spcPts val="0"/>
              </a:spcAft>
              <a:buSzPts val="1100"/>
              <a:buFont typeface="Arial"/>
              <a:buChar char="●"/>
            </a:pPr>
            <a:r>
              <a:t/>
            </a:r>
            <a:endParaRPr sz="1100">
              <a:latin typeface="Times New Roman"/>
              <a:ea typeface="Times New Roman"/>
              <a:cs typeface="Times New Roman"/>
              <a:sym typeface="Times New Roman"/>
            </a:endParaRPr>
          </a:p>
          <a:p>
            <a:pPr indent="-298450" lvl="0" marL="457200" rtl="0" algn="just">
              <a:lnSpc>
                <a:spcPct val="150000"/>
              </a:lnSpc>
              <a:spcBef>
                <a:spcPts val="0"/>
              </a:spcBef>
              <a:spcAft>
                <a:spcPts val="0"/>
              </a:spcAft>
              <a:buSzPts val="1100"/>
              <a:buFont typeface="Arial"/>
              <a:buChar char="●"/>
            </a:pPr>
            <a:r>
              <a:rPr lang="en" sz="1100">
                <a:latin typeface="Times New Roman"/>
                <a:ea typeface="Times New Roman"/>
                <a:cs typeface="Times New Roman"/>
                <a:sym typeface="Times New Roman"/>
              </a:rPr>
              <a:t>Many years contain substantial missing values, so the strongest approach is to use </a:t>
            </a:r>
            <a:r>
              <a:rPr b="1" lang="en" sz="1100">
                <a:latin typeface="Times New Roman"/>
                <a:ea typeface="Times New Roman"/>
                <a:cs typeface="Times New Roman"/>
                <a:sym typeface="Times New Roman"/>
              </a:rPr>
              <a:t>recent years plus engineered trend features</a:t>
            </a:r>
            <a:r>
              <a:rPr lang="en"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indent="-298450" lvl="0" marL="457200" rtl="0" algn="just">
              <a:lnSpc>
                <a:spcPct val="150000"/>
              </a:lnSpc>
              <a:spcBef>
                <a:spcPts val="0"/>
              </a:spcBef>
              <a:spcAft>
                <a:spcPts val="0"/>
              </a:spcAft>
              <a:buSzPts val="1100"/>
              <a:buFont typeface="Arial"/>
              <a:buChar char="●"/>
            </a:pPr>
            <a:r>
              <a:rPr lang="en" sz="1100">
                <a:latin typeface="Times New Roman"/>
                <a:ea typeface="Times New Roman"/>
                <a:cs typeface="Times New Roman"/>
                <a:sym typeface="Times New Roman"/>
              </a:rPr>
              <a:t>A </a:t>
            </a:r>
            <a:r>
              <a:rPr b="1" lang="en" sz="1100">
                <a:latin typeface="Times New Roman"/>
                <a:ea typeface="Times New Roman"/>
                <a:cs typeface="Times New Roman"/>
                <a:sym typeface="Times New Roman"/>
              </a:rPr>
              <a:t>regression problem</a:t>
            </a:r>
            <a:r>
              <a:rPr lang="en" sz="1100">
                <a:latin typeface="Times New Roman"/>
                <a:ea typeface="Times New Roman"/>
                <a:cs typeface="Times New Roman"/>
                <a:sym typeface="Times New Roman"/>
              </a:rPr>
              <a:t> (predicting latest poverty levels) is likely more robust than classification unless intentionally create poverty categories. Due to this reason, regression is used in this analys</a:t>
            </a:r>
            <a:r>
              <a:rPr lang="en" sz="1100">
                <a:latin typeface="Times New Roman"/>
                <a:ea typeface="Times New Roman"/>
                <a:cs typeface="Times New Roman"/>
                <a:sym typeface="Times New Roman"/>
              </a:rPr>
              <a:t>is.</a:t>
            </a:r>
            <a:endParaRPr sz="1100">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endParaRPr>
          </a:p>
        </p:txBody>
      </p:sp>
      <p:cxnSp>
        <p:nvCxnSpPr>
          <p:cNvPr id="368" name="Google Shape;368;p47"/>
          <p:cNvCxnSpPr/>
          <p:nvPr/>
        </p:nvCxnSpPr>
        <p:spPr>
          <a:xfrm>
            <a:off x="283850" y="289571"/>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69" name="Google Shape;369;p47"/>
          <p:cNvCxnSpPr/>
          <p:nvPr/>
        </p:nvCxnSpPr>
        <p:spPr>
          <a:xfrm>
            <a:off x="283850" y="1751842"/>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70" name="Google Shape;370;p47"/>
          <p:cNvCxnSpPr/>
          <p:nvPr/>
        </p:nvCxnSpPr>
        <p:spPr>
          <a:xfrm>
            <a:off x="283850" y="3217783"/>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71" name="Google Shape;371;p47"/>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8"/>
          <p:cNvSpPr txBox="1"/>
          <p:nvPr>
            <p:ph type="title"/>
          </p:nvPr>
        </p:nvSpPr>
        <p:spPr>
          <a:xfrm>
            <a:off x="0" y="474875"/>
            <a:ext cx="9057300" cy="43833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Clr>
                <a:schemeClr val="lt1"/>
              </a:buClr>
              <a:buSzPts val="1100"/>
              <a:buFont typeface="Arial"/>
              <a:buNone/>
            </a:pPr>
            <a:r>
              <a:rPr b="1" lang="en" sz="1700">
                <a:latin typeface="Times New Roman"/>
                <a:ea typeface="Times New Roman"/>
                <a:cs typeface="Times New Roman"/>
                <a:sym typeface="Times New Roman"/>
              </a:rPr>
              <a:t> 1: Problem</a:t>
            </a:r>
            <a:endParaRPr b="1" sz="1700">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b="1" lang="en" sz="1700">
                <a:latin typeface="Times New Roman"/>
                <a:ea typeface="Times New Roman"/>
                <a:cs typeface="Times New Roman"/>
                <a:sym typeface="Times New Roman"/>
              </a:rPr>
              <a:t> Predicting Multidimensional Poverty for Better Resource Allocation</a:t>
            </a:r>
            <a:endParaRPr b="1" sz="17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b="1" sz="1700">
              <a:latin typeface="Times New Roman"/>
              <a:ea typeface="Times New Roman"/>
              <a:cs typeface="Times New Roman"/>
              <a:sym typeface="Times New Roman"/>
            </a:endParaRPr>
          </a:p>
          <a:p>
            <a:pPr indent="-336550" lvl="0" marL="457200" rtl="0" algn="l">
              <a:lnSpc>
                <a:spcPct val="150000"/>
              </a:lnSpc>
              <a:spcBef>
                <a:spcPts val="0"/>
              </a:spcBef>
              <a:spcAft>
                <a:spcPts val="0"/>
              </a:spcAft>
              <a:buSzPts val="1700"/>
              <a:buFont typeface="Times New Roman"/>
              <a:buChar char="●"/>
            </a:pPr>
            <a:r>
              <a:rPr lang="en" sz="1700">
                <a:latin typeface="Times New Roman"/>
                <a:ea typeface="Times New Roman"/>
                <a:cs typeface="Times New Roman"/>
                <a:sym typeface="Times New Roman"/>
              </a:rPr>
              <a:t>Governments, development agencies, and humanitarian organizations need to identify countries at elevated poverty risk to target interventions effectively. This project uses historical World Bank poverty indicators to predict recent multidimensional poverty levels and support data-driven decision-making.</a:t>
            </a:r>
            <a:endParaRPr sz="1700">
              <a:latin typeface="Times New Roman"/>
              <a:ea typeface="Times New Roman"/>
              <a:cs typeface="Times New Roman"/>
              <a:sym typeface="Times New Roman"/>
            </a:endParaRPr>
          </a:p>
          <a:p>
            <a:pPr indent="0" lvl="0" marL="0" rtl="0" algn="l">
              <a:spcBef>
                <a:spcPts val="0"/>
              </a:spcBef>
              <a:spcAft>
                <a:spcPts val="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9"/>
          <p:cNvSpPr txBox="1"/>
          <p:nvPr>
            <p:ph type="title"/>
          </p:nvPr>
        </p:nvSpPr>
        <p:spPr>
          <a:xfrm>
            <a:off x="284850" y="474875"/>
            <a:ext cx="8647200" cy="4307100"/>
          </a:xfrm>
          <a:prstGeom prst="rect">
            <a:avLst/>
          </a:prstGeom>
        </p:spPr>
        <p:txBody>
          <a:bodyPr anchorCtr="0" anchor="t" bIns="0" lIns="0" spcFirstLastPara="1" rIns="0" wrap="square" tIns="0">
            <a:noAutofit/>
          </a:bodyPr>
          <a:lstStyle/>
          <a:p>
            <a:pPr indent="0" lvl="0" marL="457200" rtl="0" algn="l">
              <a:lnSpc>
                <a:spcPct val="150000"/>
              </a:lnSpc>
              <a:spcBef>
                <a:spcPts val="0"/>
              </a:spcBef>
              <a:spcAft>
                <a:spcPts val="0"/>
              </a:spcAft>
              <a:buClr>
                <a:schemeClr val="lt1"/>
              </a:buClr>
              <a:buSzPts val="1100"/>
              <a:buFont typeface="Arial"/>
              <a:buNone/>
            </a:pPr>
            <a:r>
              <a:rPr lang="en" sz="1600">
                <a:latin typeface="Times New Roman"/>
                <a:ea typeface="Times New Roman"/>
                <a:cs typeface="Times New Roman"/>
                <a:sym typeface="Times New Roman"/>
              </a:rPr>
              <a:t>2: Business Impact: Why this matters?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Enables evidence-based resource allocation</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Helps prioritize high-risk countries and regions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Supports proactive poverty reduction planning</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Improves efficiency of donor and humanitarian investments</a:t>
            </a:r>
            <a:endParaRPr sz="16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b="1" lang="en" sz="1600">
                <a:latin typeface="Times New Roman"/>
                <a:ea typeface="Times New Roman"/>
                <a:cs typeface="Times New Roman"/>
                <a:sym typeface="Times New Roman"/>
              </a:rPr>
              <a:t>Key stakeholders</a:t>
            </a:r>
            <a:endParaRPr b="1"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Governments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International NGOs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Donor organizations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Development institutions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Policy analysts</a:t>
            </a:r>
            <a:endParaRPr sz="1600">
              <a:latin typeface="Times New Roman"/>
              <a:ea typeface="Times New Roman"/>
              <a:cs typeface="Times New Roman"/>
              <a:sym typeface="Times New Roman"/>
            </a:endParaRPr>
          </a:p>
          <a:p>
            <a:pPr indent="0" lvl="0" marL="0" rtl="0" algn="l">
              <a:spcBef>
                <a:spcPts val="0"/>
              </a:spcBef>
              <a:spcAft>
                <a:spcPts val="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0"/>
          <p:cNvSpPr txBox="1"/>
          <p:nvPr>
            <p:ph type="title"/>
          </p:nvPr>
        </p:nvSpPr>
        <p:spPr>
          <a:xfrm>
            <a:off x="284850" y="474875"/>
            <a:ext cx="8412600" cy="4383300"/>
          </a:xfrm>
          <a:prstGeom prst="rect">
            <a:avLst/>
          </a:prstGeom>
        </p:spPr>
        <p:txBody>
          <a:bodyPr anchorCtr="0" anchor="t" bIns="0" lIns="0" spcFirstLastPara="1" rIns="0" wrap="square" tIns="0">
            <a:noAutofit/>
          </a:bodyPr>
          <a:lstStyle/>
          <a:p>
            <a:pPr indent="0" lvl="0" marL="457200" rtl="0" algn="l">
              <a:lnSpc>
                <a:spcPct val="150000"/>
              </a:lnSpc>
              <a:spcBef>
                <a:spcPts val="0"/>
              </a:spcBef>
              <a:spcAft>
                <a:spcPts val="0"/>
              </a:spcAft>
              <a:buClr>
                <a:schemeClr val="lt1"/>
              </a:buClr>
              <a:buSzPts val="1100"/>
              <a:buFont typeface="Arial"/>
              <a:buNone/>
            </a:pPr>
            <a:r>
              <a:rPr b="1" lang="en" sz="1600">
                <a:latin typeface="Times New Roman"/>
                <a:ea typeface="Times New Roman"/>
                <a:cs typeface="Times New Roman"/>
                <a:sym typeface="Times New Roman"/>
              </a:rPr>
              <a:t>3: Dataset Overview</a:t>
            </a:r>
            <a:endParaRPr b="1" sz="16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b="1" lang="en" sz="1600">
                <a:latin typeface="Times New Roman"/>
                <a:ea typeface="Times New Roman"/>
                <a:cs typeface="Times New Roman"/>
                <a:sym typeface="Times New Roman"/>
              </a:rPr>
              <a:t>Source:</a:t>
            </a:r>
            <a:r>
              <a:rPr lang="en" sz="1600">
                <a:latin typeface="Times New Roman"/>
                <a:ea typeface="Times New Roman"/>
                <a:cs typeface="Times New Roman"/>
                <a:sym typeface="Times New Roman"/>
              </a:rPr>
              <a:t> World Bank Multidimensional Poverty Headcount Ratio dataset. Dataset characteristics: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Country-level poverty indicators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Historical observations across multiple years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Sampled countries across regions and continents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Selected years: 2005–2022</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Target variable: 2022 poverty level</a:t>
            </a:r>
            <a:endParaRPr sz="16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lang="en" sz="1600">
                <a:latin typeface="Times New Roman"/>
                <a:ea typeface="Times New Roman"/>
                <a:cs typeface="Times New Roman"/>
                <a:sym typeface="Times New Roman"/>
              </a:rPr>
              <a:t>Features included:</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Historical poverty values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Country information</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Engineered trend variables</a:t>
            </a:r>
            <a:endParaRPr sz="1600">
              <a:latin typeface="Times New Roman"/>
              <a:ea typeface="Times New Roman"/>
              <a:cs typeface="Times New Roman"/>
              <a:sym typeface="Times New Roman"/>
            </a:endParaRPr>
          </a:p>
          <a:p>
            <a:pPr indent="0" lvl="0" marL="457200" rtl="0" algn="l">
              <a:spcBef>
                <a:spcPts val="0"/>
              </a:spcBef>
              <a:spcAft>
                <a:spcPts val="0"/>
              </a:spcAft>
              <a:buNone/>
            </a:pPr>
            <a:r>
              <a:t/>
            </a:r>
            <a:endParaRPr sz="6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1"/>
          <p:cNvSpPr txBox="1"/>
          <p:nvPr>
            <p:ph type="title"/>
          </p:nvPr>
        </p:nvSpPr>
        <p:spPr>
          <a:xfrm>
            <a:off x="284850" y="474875"/>
            <a:ext cx="8334600" cy="4851000"/>
          </a:xfrm>
          <a:prstGeom prst="rect">
            <a:avLst/>
          </a:prstGeom>
        </p:spPr>
        <p:txBody>
          <a:bodyPr anchorCtr="0" anchor="t" bIns="0" lIns="0" spcFirstLastPara="1" rIns="0" wrap="square" tIns="0">
            <a:noAutofit/>
          </a:bodyPr>
          <a:lstStyle/>
          <a:p>
            <a:pPr indent="0" lvl="0" marL="457200" rtl="0" algn="l">
              <a:lnSpc>
                <a:spcPct val="150000"/>
              </a:lnSpc>
              <a:spcBef>
                <a:spcPts val="0"/>
              </a:spcBef>
              <a:spcAft>
                <a:spcPts val="0"/>
              </a:spcAft>
              <a:buNone/>
            </a:pPr>
            <a:r>
              <a:rPr b="1" lang="en" sz="1800">
                <a:latin typeface="Times New Roman"/>
                <a:ea typeface="Times New Roman"/>
                <a:cs typeface="Times New Roman"/>
                <a:sym typeface="Times New Roman"/>
              </a:rPr>
              <a:t>4:  MVP Deliverable (Minimum Viable Project):</a:t>
            </a:r>
            <a:endParaRPr b="1" sz="1800">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rPr b="1" lang="en" sz="1800">
                <a:latin typeface="Times New Roman"/>
                <a:ea typeface="Times New Roman"/>
                <a:cs typeface="Times New Roman"/>
                <a:sym typeface="Times New Roman"/>
              </a:rPr>
              <a:t>EDA Findings</a:t>
            </a:r>
            <a:endParaRPr b="1" sz="1800">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rPr lang="en" sz="1800">
                <a:latin typeface="Times New Roman"/>
                <a:ea typeface="Times New Roman"/>
                <a:cs typeface="Times New Roman"/>
                <a:sym typeface="Times New Roman"/>
              </a:rPr>
              <a:t>Key findings from exploratory analysis:</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Earlier years contained substantial missing data</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Recent years showed stronger coverage and consistency</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Poverty levels varied significantly by country and region</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Historical patterns appeared predictive of future outcomes</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Some countries showed clear temporal trends and outliers</a:t>
            </a:r>
            <a:endParaRPr sz="1800">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rPr lang="en" sz="1800">
                <a:latin typeface="Times New Roman"/>
                <a:ea typeface="Times New Roman"/>
                <a:cs typeface="Times New Roman"/>
                <a:sym typeface="Times New Roman"/>
              </a:rPr>
              <a:t>Initial hypothesis:</a:t>
            </a:r>
            <a:endParaRPr sz="1800">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rPr lang="en" sz="1800">
                <a:latin typeface="Times New Roman"/>
                <a:ea typeface="Times New Roman"/>
                <a:cs typeface="Times New Roman"/>
                <a:sym typeface="Times New Roman"/>
              </a:rPr>
              <a:t>Past poverty patterns can help estimate future poverty outcomes.</a:t>
            </a:r>
            <a:endParaRPr sz="1800">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rPr lang="en"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2"/>
          <p:cNvSpPr txBox="1"/>
          <p:nvPr>
            <p:ph type="title"/>
          </p:nvPr>
        </p:nvSpPr>
        <p:spPr>
          <a:xfrm>
            <a:off x="0" y="474875"/>
            <a:ext cx="9026100" cy="4491300"/>
          </a:xfrm>
          <a:prstGeom prst="rect">
            <a:avLst/>
          </a:prstGeom>
        </p:spPr>
        <p:txBody>
          <a:bodyPr anchorCtr="0" anchor="t" bIns="0" lIns="0" spcFirstLastPara="1" rIns="0" wrap="square" tIns="0">
            <a:noAutofit/>
          </a:bodyPr>
          <a:lstStyle/>
          <a:p>
            <a:pPr indent="0" lvl="0" marL="457200" rtl="0" algn="l">
              <a:lnSpc>
                <a:spcPct val="150000"/>
              </a:lnSpc>
              <a:spcBef>
                <a:spcPts val="0"/>
              </a:spcBef>
              <a:spcAft>
                <a:spcPts val="0"/>
              </a:spcAft>
              <a:buNone/>
            </a:pPr>
            <a:r>
              <a:rPr lang="en" sz="1400">
                <a:latin typeface="Times New Roman"/>
                <a:ea typeface="Times New Roman"/>
                <a:cs typeface="Times New Roman"/>
                <a:sym typeface="Times New Roman"/>
              </a:rPr>
              <a:t>Peer questions: 1. Is feature engineering sufficient? 2. Should additional World Bank indicators be added? 3. Is regression better than classification?</a:t>
            </a:r>
            <a:endParaRPr sz="14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b="1" lang="en" sz="1400">
                <a:latin typeface="Times New Roman"/>
                <a:ea typeface="Times New Roman"/>
                <a:cs typeface="Times New Roman"/>
                <a:sym typeface="Times New Roman"/>
              </a:rPr>
              <a:t>5: Models Compared</a:t>
            </a:r>
            <a:endParaRPr b="1" sz="14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lang="en" sz="1400">
                <a:latin typeface="Times New Roman"/>
                <a:ea typeface="Times New Roman"/>
                <a:cs typeface="Times New Roman"/>
                <a:sym typeface="Times New Roman"/>
              </a:rPr>
              <a:t>Three predictive approaches were evaluated:</a:t>
            </a:r>
            <a:endParaRPr sz="1400">
              <a:latin typeface="Times New Roman"/>
              <a:ea typeface="Times New Roman"/>
              <a:cs typeface="Times New Roman"/>
              <a:sym typeface="Times New Roman"/>
            </a:endParaRPr>
          </a:p>
          <a:p>
            <a:pPr indent="-317500" lvl="0" marL="914400" rtl="0" algn="l">
              <a:lnSpc>
                <a:spcPct val="150000"/>
              </a:lnSpc>
              <a:spcBef>
                <a:spcPts val="0"/>
              </a:spcBef>
              <a:spcAft>
                <a:spcPts val="0"/>
              </a:spcAft>
              <a:buClr>
                <a:schemeClr val="lt1"/>
              </a:buClr>
              <a:buSzPts val="1400"/>
              <a:buAutoNum type="arabicPeriod"/>
            </a:pPr>
            <a:r>
              <a:rPr lang="en" sz="1400">
                <a:latin typeface="Times New Roman"/>
                <a:ea typeface="Times New Roman"/>
                <a:cs typeface="Times New Roman"/>
                <a:sym typeface="Times New Roman"/>
              </a:rPr>
              <a:t>Linear Regression</a:t>
            </a:r>
            <a:endParaRPr sz="1400">
              <a:latin typeface="Times New Roman"/>
              <a:ea typeface="Times New Roman"/>
              <a:cs typeface="Times New Roman"/>
              <a:sym typeface="Times New Roman"/>
            </a:endParaRPr>
          </a:p>
          <a:p>
            <a:pPr indent="-317500" lvl="1" marL="1371600" rtl="0" algn="l">
              <a:lnSpc>
                <a:spcPct val="150000"/>
              </a:lnSpc>
              <a:spcBef>
                <a:spcPts val="0"/>
              </a:spcBef>
              <a:spcAft>
                <a:spcPts val="0"/>
              </a:spcAft>
              <a:buClr>
                <a:schemeClr val="lt1"/>
              </a:buClr>
              <a:buSzPts val="1400"/>
              <a:buChar char="○"/>
            </a:pPr>
            <a:r>
              <a:rPr lang="en" sz="1400">
                <a:latin typeface="Times New Roman"/>
                <a:ea typeface="Times New Roman"/>
                <a:cs typeface="Times New Roman"/>
                <a:sym typeface="Times New Roman"/>
              </a:rPr>
              <a:t>Baseline model</a:t>
            </a:r>
            <a:endParaRPr sz="1400">
              <a:latin typeface="Times New Roman"/>
              <a:ea typeface="Times New Roman"/>
              <a:cs typeface="Times New Roman"/>
              <a:sym typeface="Times New Roman"/>
            </a:endParaRPr>
          </a:p>
          <a:p>
            <a:pPr indent="-317500" lvl="1" marL="1371600" rtl="0" algn="l">
              <a:lnSpc>
                <a:spcPct val="150000"/>
              </a:lnSpc>
              <a:spcBef>
                <a:spcPts val="0"/>
              </a:spcBef>
              <a:spcAft>
                <a:spcPts val="0"/>
              </a:spcAft>
              <a:buClr>
                <a:schemeClr val="lt1"/>
              </a:buClr>
              <a:buSzPts val="1400"/>
              <a:buChar char="○"/>
            </a:pPr>
            <a:r>
              <a:rPr lang="en" sz="1400">
                <a:latin typeface="Times New Roman"/>
                <a:ea typeface="Times New Roman"/>
                <a:cs typeface="Times New Roman"/>
                <a:sym typeface="Times New Roman"/>
              </a:rPr>
              <a:t>Highly interpretable</a:t>
            </a:r>
            <a:endParaRPr sz="1400">
              <a:latin typeface="Times New Roman"/>
              <a:ea typeface="Times New Roman"/>
              <a:cs typeface="Times New Roman"/>
              <a:sym typeface="Times New Roman"/>
            </a:endParaRPr>
          </a:p>
          <a:p>
            <a:pPr indent="-317500" lvl="0" marL="914400" rtl="0" algn="l">
              <a:lnSpc>
                <a:spcPct val="150000"/>
              </a:lnSpc>
              <a:spcBef>
                <a:spcPts val="0"/>
              </a:spcBef>
              <a:spcAft>
                <a:spcPts val="0"/>
              </a:spcAft>
              <a:buClr>
                <a:schemeClr val="lt1"/>
              </a:buClr>
              <a:buSzPts val="1400"/>
              <a:buAutoNum type="arabicPeriod"/>
            </a:pPr>
            <a:r>
              <a:rPr lang="en" sz="1400">
                <a:latin typeface="Times New Roman"/>
                <a:ea typeface="Times New Roman"/>
                <a:cs typeface="Times New Roman"/>
                <a:sym typeface="Times New Roman"/>
              </a:rPr>
              <a:t>Random Forest Regression</a:t>
            </a:r>
            <a:endParaRPr sz="1400">
              <a:latin typeface="Times New Roman"/>
              <a:ea typeface="Times New Roman"/>
              <a:cs typeface="Times New Roman"/>
              <a:sym typeface="Times New Roman"/>
            </a:endParaRPr>
          </a:p>
          <a:p>
            <a:pPr indent="-317500" lvl="1" marL="1371600" rtl="0" algn="l">
              <a:lnSpc>
                <a:spcPct val="150000"/>
              </a:lnSpc>
              <a:spcBef>
                <a:spcPts val="0"/>
              </a:spcBef>
              <a:spcAft>
                <a:spcPts val="0"/>
              </a:spcAft>
              <a:buClr>
                <a:schemeClr val="lt1"/>
              </a:buClr>
              <a:buSzPts val="1400"/>
              <a:buChar char="○"/>
            </a:pPr>
            <a:r>
              <a:rPr lang="en" sz="1400">
                <a:latin typeface="Times New Roman"/>
                <a:ea typeface="Times New Roman"/>
                <a:cs typeface="Times New Roman"/>
                <a:sym typeface="Times New Roman"/>
              </a:rPr>
              <a:t>Captures nonlinear relationships</a:t>
            </a:r>
            <a:endParaRPr sz="1400">
              <a:latin typeface="Times New Roman"/>
              <a:ea typeface="Times New Roman"/>
              <a:cs typeface="Times New Roman"/>
              <a:sym typeface="Times New Roman"/>
            </a:endParaRPr>
          </a:p>
          <a:p>
            <a:pPr indent="-317500" lvl="1" marL="1371600" rtl="0" algn="l">
              <a:lnSpc>
                <a:spcPct val="150000"/>
              </a:lnSpc>
              <a:spcBef>
                <a:spcPts val="0"/>
              </a:spcBef>
              <a:spcAft>
                <a:spcPts val="0"/>
              </a:spcAft>
              <a:buClr>
                <a:schemeClr val="lt1"/>
              </a:buClr>
              <a:buSzPts val="1400"/>
              <a:buChar char="○"/>
            </a:pPr>
            <a:r>
              <a:rPr lang="en" sz="1400">
                <a:latin typeface="Times New Roman"/>
                <a:ea typeface="Times New Roman"/>
                <a:cs typeface="Times New Roman"/>
                <a:sym typeface="Times New Roman"/>
              </a:rPr>
              <a:t>Handles complex interactions</a:t>
            </a:r>
            <a:endParaRPr sz="1400">
              <a:latin typeface="Times New Roman"/>
              <a:ea typeface="Times New Roman"/>
              <a:cs typeface="Times New Roman"/>
              <a:sym typeface="Times New Roman"/>
            </a:endParaRPr>
          </a:p>
          <a:p>
            <a:pPr indent="-317500" lvl="0" marL="914400" rtl="0" algn="l">
              <a:lnSpc>
                <a:spcPct val="150000"/>
              </a:lnSpc>
              <a:spcBef>
                <a:spcPts val="0"/>
              </a:spcBef>
              <a:spcAft>
                <a:spcPts val="0"/>
              </a:spcAft>
              <a:buClr>
                <a:schemeClr val="lt1"/>
              </a:buClr>
              <a:buSzPts val="1400"/>
              <a:buAutoNum type="arabicPeriod"/>
            </a:pPr>
            <a:r>
              <a:rPr lang="en" sz="1400">
                <a:latin typeface="Times New Roman"/>
                <a:ea typeface="Times New Roman"/>
                <a:cs typeface="Times New Roman"/>
                <a:sym typeface="Times New Roman"/>
              </a:rPr>
              <a:t>Gradient Boosting / Ensemble Model</a:t>
            </a:r>
            <a:endParaRPr sz="1400">
              <a:latin typeface="Times New Roman"/>
              <a:ea typeface="Times New Roman"/>
              <a:cs typeface="Times New Roman"/>
              <a:sym typeface="Times New Roman"/>
            </a:endParaRPr>
          </a:p>
          <a:p>
            <a:pPr indent="-317500" lvl="1" marL="1371600" rtl="0" algn="l">
              <a:lnSpc>
                <a:spcPct val="150000"/>
              </a:lnSpc>
              <a:spcBef>
                <a:spcPts val="0"/>
              </a:spcBef>
              <a:spcAft>
                <a:spcPts val="0"/>
              </a:spcAft>
              <a:buClr>
                <a:schemeClr val="lt1"/>
              </a:buClr>
              <a:buSzPts val="1400"/>
              <a:buChar char="○"/>
            </a:pPr>
            <a:r>
              <a:rPr lang="en" sz="1400">
                <a:latin typeface="Times New Roman"/>
                <a:ea typeface="Times New Roman"/>
                <a:cs typeface="Times New Roman"/>
                <a:sym typeface="Times New Roman"/>
              </a:rPr>
              <a:t>Improved predictive capability</a:t>
            </a:r>
            <a:endParaRPr sz="1400">
              <a:latin typeface="Times New Roman"/>
              <a:ea typeface="Times New Roman"/>
              <a:cs typeface="Times New Roman"/>
              <a:sym typeface="Times New Roman"/>
            </a:endParaRPr>
          </a:p>
          <a:p>
            <a:pPr indent="-317500" lvl="1" marL="1371600" rtl="0" algn="l">
              <a:lnSpc>
                <a:spcPct val="150000"/>
              </a:lnSpc>
              <a:spcBef>
                <a:spcPts val="0"/>
              </a:spcBef>
              <a:spcAft>
                <a:spcPts val="0"/>
              </a:spcAft>
              <a:buClr>
                <a:schemeClr val="lt1"/>
              </a:buClr>
              <a:buSzPts val="1400"/>
              <a:buChar char="○"/>
            </a:pPr>
            <a:r>
              <a:rPr lang="en" sz="1400">
                <a:latin typeface="Times New Roman"/>
                <a:ea typeface="Times New Roman"/>
                <a:cs typeface="Times New Roman"/>
                <a:sym typeface="Times New Roman"/>
              </a:rPr>
              <a:t>Tuned through cross-validation</a:t>
            </a:r>
            <a:endParaRPr sz="14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lang="en" sz="1400">
                <a:latin typeface="Times New Roman"/>
                <a:ea typeface="Times New Roman"/>
                <a:cs typeface="Times New Roman"/>
                <a:sym typeface="Times New Roman"/>
              </a:rPr>
              <a:t>Hyperparameter tuning and 5-fold cross-validation were applied.</a:t>
            </a:r>
            <a:endParaRPr sz="1400">
              <a:latin typeface="Times New Roman"/>
              <a:ea typeface="Times New Roman"/>
              <a:cs typeface="Times New Roman"/>
              <a:sym typeface="Times New Roman"/>
            </a:endParaRPr>
          </a:p>
          <a:p>
            <a:pPr indent="0" lvl="0" marL="457200" rtl="0" algn="l">
              <a:spcBef>
                <a:spcPts val="0"/>
              </a:spcBef>
              <a:spcAft>
                <a:spcPts val="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3"/>
          <p:cNvSpPr txBox="1"/>
          <p:nvPr>
            <p:ph type="title"/>
          </p:nvPr>
        </p:nvSpPr>
        <p:spPr>
          <a:xfrm>
            <a:off x="284850" y="474875"/>
            <a:ext cx="8459700" cy="4585200"/>
          </a:xfrm>
          <a:prstGeom prst="rect">
            <a:avLst/>
          </a:prstGeom>
        </p:spPr>
        <p:txBody>
          <a:bodyPr anchorCtr="0" anchor="t" bIns="0" lIns="0" spcFirstLastPara="1" rIns="0" wrap="square" tIns="0">
            <a:noAutofit/>
          </a:bodyPr>
          <a:lstStyle/>
          <a:p>
            <a:pPr indent="0" lvl="0" marL="457200" rtl="0" algn="l">
              <a:lnSpc>
                <a:spcPct val="150000"/>
              </a:lnSpc>
              <a:spcBef>
                <a:spcPts val="0"/>
              </a:spcBef>
              <a:spcAft>
                <a:spcPts val="0"/>
              </a:spcAft>
              <a:buClr>
                <a:schemeClr val="lt1"/>
              </a:buClr>
              <a:buSzPts val="1100"/>
              <a:buFont typeface="Arial"/>
              <a:buNone/>
            </a:pPr>
            <a:r>
              <a:rPr b="1" lang="en" sz="1600">
                <a:latin typeface="Times New Roman"/>
                <a:ea typeface="Times New Roman"/>
                <a:cs typeface="Times New Roman"/>
                <a:sym typeface="Times New Roman"/>
              </a:rPr>
              <a:t>7: Recommendations</a:t>
            </a:r>
            <a:endParaRPr b="1" sz="16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lang="en" sz="1600">
                <a:latin typeface="Times New Roman"/>
                <a:ea typeface="Times New Roman"/>
                <a:cs typeface="Times New Roman"/>
                <a:sym typeface="Times New Roman"/>
              </a:rPr>
              <a:t>Recommended actions: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AutoNum type="arabicPeriod"/>
            </a:pPr>
            <a:r>
              <a:rPr lang="en" sz="1600">
                <a:latin typeface="Times New Roman"/>
                <a:ea typeface="Times New Roman"/>
                <a:cs typeface="Times New Roman"/>
                <a:sym typeface="Times New Roman"/>
              </a:rPr>
              <a:t>Prioritize countries with high predicted poverty levels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AutoNum type="arabicPeriod"/>
            </a:pPr>
            <a:r>
              <a:rPr lang="en" sz="1600">
                <a:latin typeface="Times New Roman"/>
                <a:ea typeface="Times New Roman"/>
                <a:cs typeface="Times New Roman"/>
                <a:sym typeface="Times New Roman"/>
              </a:rPr>
              <a:t>Monitor countries showing worsening trends over time</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AutoNum type="arabicPeriod"/>
            </a:pPr>
            <a:r>
              <a:rPr lang="en" sz="1600">
                <a:latin typeface="Times New Roman"/>
                <a:ea typeface="Times New Roman"/>
                <a:cs typeface="Times New Roman"/>
                <a:sym typeface="Times New Roman"/>
              </a:rPr>
              <a:t>Refresh model annually with updated World Bank data</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AutoNum type="arabicPeriod"/>
            </a:pPr>
            <a:r>
              <a:rPr lang="en" sz="1600">
                <a:latin typeface="Times New Roman"/>
                <a:ea typeface="Times New Roman"/>
                <a:cs typeface="Times New Roman"/>
                <a:sym typeface="Times New Roman"/>
              </a:rPr>
              <a:t>Integrate additional socioeconomic indicators for improved prediction</a:t>
            </a:r>
            <a:endParaRPr sz="16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lang="en" sz="1600">
                <a:latin typeface="Times New Roman"/>
                <a:ea typeface="Times New Roman"/>
                <a:cs typeface="Times New Roman"/>
                <a:sym typeface="Times New Roman"/>
              </a:rPr>
              <a:t>Future enhancements: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GDP</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Education indicators</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Conflict data</a:t>
            </a:r>
            <a:endParaRPr sz="1600">
              <a:latin typeface="Times New Roman"/>
              <a:ea typeface="Times New Roman"/>
              <a:cs typeface="Times New Roman"/>
              <a:sym typeface="Times New Roman"/>
            </a:endParaRPr>
          </a:p>
          <a:p>
            <a:pPr indent="-330200" lvl="0" marL="914400" rtl="0" algn="l">
              <a:lnSpc>
                <a:spcPct val="150000"/>
              </a:lnSpc>
              <a:spcBef>
                <a:spcPts val="0"/>
              </a:spcBef>
              <a:spcAft>
                <a:spcPts val="0"/>
              </a:spcAft>
              <a:buClr>
                <a:schemeClr val="lt1"/>
              </a:buClr>
              <a:buSzPts val="1600"/>
              <a:buChar char="●"/>
            </a:pPr>
            <a:r>
              <a:rPr lang="en" sz="1600">
                <a:latin typeface="Times New Roman"/>
                <a:ea typeface="Times New Roman"/>
                <a:cs typeface="Times New Roman"/>
                <a:sym typeface="Times New Roman"/>
              </a:rPr>
              <a:t>Employment measures</a:t>
            </a:r>
            <a:endParaRPr sz="1600">
              <a:latin typeface="Times New Roman"/>
              <a:ea typeface="Times New Roman"/>
              <a:cs typeface="Times New Roman"/>
              <a:sym typeface="Times New Roman"/>
            </a:endParaRPr>
          </a:p>
          <a:p>
            <a:pPr indent="0" lvl="0" marL="457200" rtl="0" algn="l">
              <a:spcBef>
                <a:spcPts val="0"/>
              </a:spcBef>
              <a:spcAft>
                <a:spcPts val="0"/>
              </a:spcAft>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4"/>
          <p:cNvSpPr txBox="1"/>
          <p:nvPr>
            <p:ph type="title"/>
          </p:nvPr>
        </p:nvSpPr>
        <p:spPr>
          <a:xfrm>
            <a:off x="284850" y="474875"/>
            <a:ext cx="8571900" cy="4460100"/>
          </a:xfrm>
          <a:prstGeom prst="rect">
            <a:avLst/>
          </a:prstGeom>
        </p:spPr>
        <p:txBody>
          <a:bodyPr anchorCtr="0" anchor="t" bIns="0" lIns="0" spcFirstLastPara="1" rIns="0" wrap="square" tIns="0">
            <a:noAutofit/>
          </a:bodyPr>
          <a:lstStyle/>
          <a:p>
            <a:pPr indent="0" lvl="0" marL="457200" rtl="0" algn="l">
              <a:lnSpc>
                <a:spcPct val="150000"/>
              </a:lnSpc>
              <a:spcBef>
                <a:spcPts val="0"/>
              </a:spcBef>
              <a:spcAft>
                <a:spcPts val="0"/>
              </a:spcAft>
              <a:buClr>
                <a:schemeClr val="lt1"/>
              </a:buClr>
              <a:buSzPts val="1100"/>
              <a:buFont typeface="Arial"/>
              <a:buNone/>
            </a:pPr>
            <a:r>
              <a:rPr b="1" lang="en" sz="1800">
                <a:latin typeface="Times New Roman"/>
                <a:ea typeface="Times New Roman"/>
                <a:cs typeface="Times New Roman"/>
                <a:sym typeface="Times New Roman"/>
              </a:rPr>
              <a:t>8: Lessons Learned</a:t>
            </a:r>
            <a:endParaRPr b="1" sz="1800">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t/>
            </a:r>
            <a:endParaRPr sz="1800">
              <a:latin typeface="Times New Roman"/>
              <a:ea typeface="Times New Roman"/>
              <a:cs typeface="Times New Roman"/>
              <a:sym typeface="Times New Roman"/>
            </a:endParaRPr>
          </a:p>
          <a:p>
            <a:pPr indent="0" lvl="0" marL="457200" rtl="0" algn="l">
              <a:lnSpc>
                <a:spcPct val="150000"/>
              </a:lnSpc>
              <a:spcBef>
                <a:spcPts val="0"/>
              </a:spcBef>
              <a:spcAft>
                <a:spcPts val="0"/>
              </a:spcAft>
              <a:buClr>
                <a:schemeClr val="lt1"/>
              </a:buClr>
              <a:buSzPts val="1100"/>
              <a:buFont typeface="Arial"/>
              <a:buNone/>
            </a:pPr>
            <a:r>
              <a:rPr lang="en" sz="1800">
                <a:latin typeface="Times New Roman"/>
                <a:ea typeface="Times New Roman"/>
                <a:cs typeface="Times New Roman"/>
                <a:sym typeface="Times New Roman"/>
              </a:rPr>
              <a:t>Key lessons from the project:</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Data quality strongly affects outcomes</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Feature engineering significantly influences model performance</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Simpler models may still provide strong baseline performance</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Business interpretation is as important as predictive accuracy</a:t>
            </a:r>
            <a:endParaRPr sz="1800">
              <a:latin typeface="Times New Roman"/>
              <a:ea typeface="Times New Roman"/>
              <a:cs typeface="Times New Roman"/>
              <a:sym typeface="Times New Roman"/>
            </a:endParaRPr>
          </a:p>
          <a:p>
            <a:pPr indent="-342900" lvl="0" marL="914400" rtl="0" algn="l">
              <a:lnSpc>
                <a:spcPct val="150000"/>
              </a:lnSpc>
              <a:spcBef>
                <a:spcPts val="0"/>
              </a:spcBef>
              <a:spcAft>
                <a:spcPts val="0"/>
              </a:spcAft>
              <a:buClr>
                <a:schemeClr val="lt1"/>
              </a:buClr>
              <a:buSzPts val="1800"/>
              <a:buChar char="●"/>
            </a:pPr>
            <a:r>
              <a:rPr lang="en" sz="1800">
                <a:latin typeface="Times New Roman"/>
                <a:ea typeface="Times New Roman"/>
                <a:cs typeface="Times New Roman"/>
                <a:sym typeface="Times New Roman"/>
              </a:rPr>
              <a:t>Preprocessing and handling missing data are critical in real-world datasets</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